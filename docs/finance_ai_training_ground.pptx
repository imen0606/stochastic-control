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45720" cy="4114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Helvetica Neue"/>
              </a:defRPr>
            </a:pPr>
            <a:r>
              <a:t>Why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77"/>
                </a:solidFill>
                <a:latin typeface="Helvetica Neue"/>
              </a:defRPr>
            </a:pPr>
            <a:r>
              <a:t>The highest-value industry for AI agents — and the one least equipped to train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9AF5"/>
                </a:solidFill>
                <a:latin typeface="Helvetica Neue"/>
              </a:defRPr>
            </a:pPr>
            <a:r>
              <a:t>$700–800B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71600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Helvetica Neue"/>
              </a:defRPr>
            </a:pPr>
            <a:r>
              <a:t>projected banking cost</a:t>
            </a:r>
            <a:br/>
            <a:r>
              <a:t>savings from 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Helvetica Neue"/>
              </a:defRPr>
            </a:pPr>
            <a:r>
              <a:t>McKinsey,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0584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0515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9AF5"/>
                </a:solidFill>
                <a:latin typeface="Helvetica Neue"/>
              </a:defRPr>
            </a:pPr>
            <a:r>
              <a:t>$1.5–2B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371600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Helvetica Neue"/>
              </a:defRPr>
            </a:pPr>
            <a:r>
              <a:t>projected annual AI value</a:t>
            </a:r>
            <a:br/>
            <a:r>
              <a:t>at JPMorgan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1737360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Helvetica Neue"/>
              </a:defRPr>
            </a:pPr>
            <a:r>
              <a:t>450+ use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00584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0515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9AF5"/>
                </a:solidFill>
                <a:latin typeface="Helvetica Neue"/>
              </a:defRPr>
            </a:pPr>
            <a:r>
              <a:t>44%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371600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Helvetica Neue"/>
              </a:defRPr>
            </a:pPr>
            <a:r>
              <a:t>of finance teams deploying</a:t>
            </a:r>
            <a:br/>
            <a:r>
              <a:t>agentic AI in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737360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Helvetica Neue"/>
              </a:defRPr>
            </a:pPr>
            <a:r>
              <a:t>Wolters Kluwer survey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00584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9992" y="10515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9AF5"/>
                </a:solidFill>
                <a:latin typeface="Helvetica Neue"/>
              </a:defRPr>
            </a:pPr>
            <a:r>
              <a:t>160+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371600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Helvetica Neue"/>
              </a:defRPr>
            </a:pPr>
            <a:r>
              <a:t>agentic AI use cases from</a:t>
            </a:r>
            <a:br/>
            <a:r>
              <a:t>top 50 banks in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1737360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Helvetica Neue"/>
              </a:defRPr>
            </a:pPr>
            <a:r>
              <a:t>Evident AI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4D"/>
                </a:solidFill>
                <a:latin typeface="Helvetica Neue"/>
              </a:defRPr>
            </a:pPr>
            <a:r>
              <a:t>The Gap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377440"/>
            <a:ext cx="6675120" cy="868680"/>
          </a:xfrm>
          <a:prstGeom prst="roundRect">
            <a:avLst>
              <a:gd name="adj" fmla="val 4000"/>
            </a:avLst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4231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33344"/>
                </a:solidFill>
                <a:latin typeface="Helvetica Neue"/>
              </a:defRPr>
            </a:pPr>
            <a:r>
              <a:t>The industry is deploying AI agents fast — but has no way to train or evaluate them for sequential financial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72491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Helvetica Neue"/>
              </a:defRPr>
            </a:pPr>
            <a:r>
              <a:t>Current benchmarks test static reasoning. Financial decisions are sequential: act under uncertainty, adapt over time, manage risk across steps.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2377440"/>
            <a:ext cx="4160520" cy="868680"/>
          </a:xfrm>
          <a:prstGeom prst="roundRect">
            <a:avLst>
              <a:gd name="adj" fmla="val 4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2450592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4D4D"/>
                </a:solidFill>
                <a:latin typeface="Helvetica Neue"/>
              </a:defRPr>
            </a:pPr>
            <a:r>
              <a:t>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78892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Helvetica Neue"/>
              </a:defRPr>
            </a:pPr>
            <a:r>
              <a:t>of enterprise AI pilots fail to deliver measurable financial impact.  — MIT / BCG,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015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9AF5"/>
                </a:solidFill>
                <a:latin typeface="Helvetica Neue"/>
              </a:defRPr>
            </a:pPr>
            <a:r>
              <a:t>What We’re Building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393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44"/>
                </a:solidFill>
                <a:latin typeface="Helvetica Neue"/>
              </a:defRPr>
            </a:pPr>
            <a:r>
              <a:t>RL environments for financial decision-making — with provably optimal benchmarks to train and evaluate against.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0507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A1A2E"/>
                </a:solidFill>
                <a:latin typeface="Helvetica Neue"/>
              </a:defRPr>
            </a:pPr>
            <a:r>
              <a:t>Agentic Environments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51959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Helvetica Neue"/>
              </a:defRPr>
            </a:pPr>
            <a:r>
              <a:t>AI agents interact with markets over multiple steps — observing, deciding, adapting. Not static Q&amp;A.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5112" y="393192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7992" y="400507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A1A2E"/>
                </a:solidFill>
                <a:latin typeface="Helvetica Neue"/>
              </a:defRPr>
            </a:pPr>
            <a:r>
              <a:t>Verifiable by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4251959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Helvetica Neue"/>
              </a:defRPr>
            </a:pPr>
            <a:r>
              <a:t>Every environment has a known optimal strategy. We measure what the agent learned, not just one backtest.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393192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4463" y="400507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A1A2E"/>
                </a:solidFill>
                <a:latin typeface="Helvetica Neue"/>
              </a:defRPr>
            </a:pPr>
            <a:r>
              <a:t>Broad Financial Coverage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3" y="4251959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Helvetica Neue"/>
              </a:defRPr>
            </a:pPr>
            <a:r>
              <a:t>Trading, portfolio construction, execution, risk management — anywhere decisions are sequential.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074920"/>
            <a:ext cx="5623560" cy="1188720"/>
          </a:xfrm>
          <a:prstGeom prst="roundRect">
            <a:avLst>
              <a:gd name="adj" fmla="val 4000"/>
            </a:avLst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1206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9D2D"/>
                </a:solidFill>
                <a:latin typeface="Helvetica Neue"/>
              </a:defRPr>
            </a:pPr>
            <a:r>
              <a:t>EU AI Act — High-Risk Deadline: August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3492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Helvetica Neue"/>
              </a:defRPr>
            </a:pPr>
            <a:r>
              <a:t>Financial AI classified high-risk. Auditability, accuracy, and risk management now mandatory. Fines up to 7% of global turnover.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5074920"/>
            <a:ext cx="5230368" cy="1188720"/>
          </a:xfrm>
          <a:prstGeom prst="roundRect">
            <a:avLst>
              <a:gd name="adj" fmla="val 4000"/>
            </a:avLst>
          </a:prstGeom>
          <a:solidFill>
            <a:srgbClr val="EE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1206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A853"/>
                </a:solidFill>
                <a:latin typeface="Helvetica Neue"/>
              </a:defRPr>
            </a:pPr>
            <a:r>
              <a:t>Beyond Finance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3492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Helvetica Neue"/>
              </a:defRPr>
            </a:pPr>
            <a:r>
              <a:t>The same sequential decision-making applies broadly: energy dispatch, supply chain, healthcare treatment protocols. Finance first — the capability transfers.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Finance is the starting point — it has exact optimal solutions.  The capability transfers.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