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B0"/>
                </a:solidFill>
                <a:latin typeface="Calibri"/>
              </a:defRPr>
            </a:pPr>
            <a:r>
              <a:t>Financial Planning RLVR Gym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Training multi-step planning under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Team Overview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6576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THE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model decides each turn whether to run</a:t>
            </a:r>
            <a:br/>
            <a:r>
              <a:t>a trading strategy or sit in cash.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Running earns or loses money depending on market conditions.</a:t>
            </a:r>
          </a:p>
          <a:p>
            <a:pPr algn="ctr">
              <a:spcBef>
                <a:spcPts val="8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Switching between in and out costs money.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4EC9B0"/>
                </a:solidFill>
                <a:latin typeface="Calibri"/>
              </a:defRPr>
            </a:pPr>
            <a:r>
              <a:t>The optimal strategy is provably computable.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One reward_fn. Plugs into GRPO. Infinite instances. Tunable difficulty.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THE GAP IN CURRENT RLVR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C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9BD2"/>
                </a:solidFill>
                <a:latin typeface="Calibri"/>
              </a:defRPr>
            </a:pPr>
            <a:r>
              <a:t>Math Gyms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One problem, one answer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Deterministic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Single-shot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uncertainty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200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C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9BD2"/>
                </a:solidFill>
                <a:latin typeface="Calibri"/>
              </a:defRPr>
            </a:pPr>
            <a:r>
              <a:t>Code Gyms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Write code, run tests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Deterministic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Single-shot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uncertainty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2560320"/>
          </a:xfrm>
          <a:prstGeom prst="roundRect">
            <a:avLst/>
          </a:prstGeom>
          <a:solidFill>
            <a:srgbClr val="1E3A2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This Gym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Sequence of coupled decisions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Stochastic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Multi-step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Plans under uncertainty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572000"/>
            <a:ext cx="850392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70916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No existing gym trains: sequential planning + uncertainty + verifiable rewards</a:t>
            </a:r>
          </a:p>
          <a:p>
            <a:pPr algn="ctr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This is the capability gap for agentic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9B0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03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Create synthetic</a:t>
            </a:r>
            <a:br/>
            <a:r>
              <a:t>market scenario</a:t>
            </a:r>
            <a:br/>
            <a:r>
              <a:t>with known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  <a:latin typeface="Calibri"/>
              </a:defRPr>
            </a:pPr>
            <a: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5603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Bellman backward</a:t>
            </a:r>
            <a:br/>
            <a:r>
              <a:t>induction gives</a:t>
            </a:r>
            <a:br/>
            <a:r>
              <a:t>exact optimal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011680"/>
            <a:ext cx="201168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C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9BD2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5603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Multi-turn:</a:t>
            </a:r>
            <a:br/>
            <a:r>
              <a:t>one signal per</a:t>
            </a:r>
            <a:br/>
            <a:r>
              <a:t>turn to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201168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C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9BD2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603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Extract binary</a:t>
            </a:r>
            <a:br/>
            <a:r>
              <a:t>decisions from</a:t>
            </a:r>
            <a:br/>
            <a:r>
              <a:t>model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011680"/>
            <a:ext cx="164592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9B0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560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Compare</a:t>
            </a:r>
            <a:br/>
            <a:r>
              <a:t>profit vs</a:t>
            </a:r>
            <a:br/>
            <a:r>
              <a:t>optimal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2697480"/>
            <a:ext cx="365760" cy="0"/>
          </a:xfrm>
          <a:prstGeom prst="line">
            <a:avLst/>
          </a:prstGeom>
          <a:ln w="1905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83480" y="2697480"/>
            <a:ext cx="365760" cy="0"/>
          </a:xfrm>
          <a:prstGeom prst="line">
            <a:avLst/>
          </a:prstGeom>
          <a:ln w="1905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2697480"/>
            <a:ext cx="365759" cy="0"/>
          </a:xfrm>
          <a:prstGeom prst="line">
            <a:avLst/>
          </a:prstGeom>
          <a:ln w="1905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21240" y="2697480"/>
            <a:ext cx="91440" cy="0"/>
          </a:xfrm>
          <a:prstGeom prst="line">
            <a:avLst/>
          </a:prstGeom>
          <a:ln w="1905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4114800"/>
            <a:ext cx="27432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C9B0"/>
                </a:solidFill>
                <a:latin typeface="Calibri"/>
              </a:defRPr>
            </a:pPr>
            <a:r>
              <a:t>GRPO Trainer</a:t>
            </a:r>
            <a:br/>
            <a:r>
              <a:t>(TRL / veRL)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81360" y="3383280"/>
            <a:ext cx="0" cy="731520"/>
          </a:xfrm>
          <a:prstGeom prst="line">
            <a:avLst/>
          </a:prstGeom>
          <a:ln w="19050">
            <a:solidFill>
              <a:srgbClr val="4EC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5303520"/>
            <a:ext cx="11704320" cy="731520"/>
          </a:xfrm>
          <a:prstGeom prst="roundRect">
            <a:avLst/>
          </a:prstGeom>
          <a:solidFill>
            <a:srgbClr val="1E3A2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We build: Generate + Solve + Prompt + Parse +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94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Lab provides: GRPO training loop (already exists)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MODEL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model receives one signal per turn — it cannot see the future.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8686800" cy="658368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9BD2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8308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You manage a momentum strategy. Switching costs 0.10.</a:t>
            </a:r>
            <a:br/>
            <a:r>
              <a:t>Expected PnL = 0.30 x signal. One observation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79"/>
            <a:ext cx="8686800" cy="457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9BD2"/>
                </a:solidFill>
                <a:latin typeface="Calibri"/>
              </a:defRPr>
            </a:pPr>
            <a:r>
              <a:t>t=0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145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Z = +0.60  |  Previous: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999232"/>
            <a:ext cx="8686800" cy="658368"/>
          </a:xfrm>
          <a:prstGeom prst="round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0449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alibri"/>
              </a:defRPr>
            </a:pPr>
            <a:r>
              <a:t>t=0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44951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E[PnL] = 0.18 &gt; cost 0.10. Strong signal. Switch ON.</a:t>
            </a:r>
            <a:br/>
            <a:r>
              <a:t>s_0 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30752"/>
            <a:ext cx="8686800" cy="457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764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9BD2"/>
                </a:solidFill>
                <a:latin typeface="Calibri"/>
              </a:defRPr>
            </a:pPr>
            <a:r>
              <a:t>t=1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76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Z = +0.45  |  Previous: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261104"/>
            <a:ext cx="8686800" cy="658368"/>
          </a:xfrm>
          <a:prstGeom prst="round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4306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alibri"/>
              </a:defRPr>
            </a:pPr>
            <a:r>
              <a:t>t=1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06824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Already on, no cost. E[PnL] = 0.135 &gt; 0. Stay in.</a:t>
            </a:r>
            <a:br/>
            <a:r>
              <a:t>s_1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92624"/>
            <a:ext cx="8686800" cy="457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38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9BD2"/>
                </a:solidFill>
                <a:latin typeface="Calibri"/>
              </a:defRPr>
            </a:pPr>
            <a:r>
              <a:t>t=2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383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Z = -0.12  |  Previous: 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522976"/>
            <a:ext cx="8686800" cy="658368"/>
          </a:xfrm>
          <a:prstGeom prst="round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55686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alibri"/>
              </a:defRPr>
            </a:pPr>
            <a:r>
              <a:t>t=2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568696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Signal negative. Switching off costs 0.10 but stops losses.</a:t>
            </a:r>
            <a:br/>
            <a:r>
              <a:t>s_2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Why sequential?  If the model saw all signals upfront, it could cheat with future info. This way, model and benchmark play by the same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SCORING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Three agents, same market path (T=5, λ=0.10):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onsolas"/>
              </a:defRPr>
            </a:pPr>
            <a:r>
              <a:t>                    t=0    t=1    t=2    t=3    t=4    Profit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4EC9B0"/>
                </a:solidFill>
                <a:latin typeface="Consolas"/>
              </a:defRPr>
            </a:pPr>
            <a:r>
              <a:t>Optimal:   s* = [ 1      1      0      0      0 ]    +$0.12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C9BD2"/>
                </a:solidFill>
                <a:latin typeface="Consolas"/>
              </a:defRPr>
            </a:pPr>
            <a:r>
              <a:t>Model:   s_m = [ 1      1      0      0      1 ]    +$0.16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06060"/>
                </a:solidFill>
                <a:latin typeface="Consolas"/>
              </a:defRPr>
            </a:pPr>
            <a:r>
              <a:t>Random:  s_r = [ 0      1      1      0      1 ]    -$0.14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389120"/>
            <a:ext cx="667512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4526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score = (model - random) / (optimal - random)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600"/>
              </a:spcBef>
              <a:defRPr sz="1600" b="0">
                <a:solidFill>
                  <a:srgbClr val="CCCCCC"/>
                </a:solidFill>
                <a:latin typeface="Consolas"/>
              </a:defRPr>
            </a:pPr>
            <a:r>
              <a:t>     = (0.16 - (-0.14)) / (0.12 - (-0.14))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4EC9B0"/>
                </a:solidFill>
                <a:latin typeface="Consolas"/>
              </a:defRPr>
            </a:pPr>
            <a:r>
              <a:t>     = 0.30 / 0.26 = 1.15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0 = random  |  1.0 = optimal  |  &gt;1.0 possible on single instances (averages to 1.0 over many)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VALIDATION — THE GOLDILOCKS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Before shipping: prove the reward signal discriminates between reasoning levels.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5029200" cy="32004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Consolas"/>
              </a:defRPr>
            </a:pPr>
            <a:r>
              <a:t>              Easy    Medium    Hard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E06060"/>
                </a:solidFill>
                <a:latin typeface="Consolas"/>
              </a:defRPr>
            </a:pPr>
            <a:r>
              <a:t>Random        ~0       ~0       ~0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FFA500"/>
                </a:solidFill>
                <a:latin typeface="Consolas"/>
              </a:defRPr>
            </a:pPr>
            <a:r>
              <a:t>Greedy        0.72     0.51     0.28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4EC9B0"/>
                </a:solidFill>
                <a:latin typeface="Consolas"/>
              </a:defRPr>
            </a:pPr>
            <a:r>
              <a:t>Optimal       1.00     1.00     1.00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FFFFFF"/>
                </a:solidFill>
                <a:latin typeface="Consolas"/>
              </a:defRPr>
            </a:pPr>
            <a:r>
              <a:t>Gap:          0.28     0.49     0.72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572000" cy="3200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What this proves: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Gap widens as difficulty increases</a:t>
            </a:r>
          </a:p>
          <a:p>
            <a:pPr algn="l">
              <a:spcBef>
                <a:spcPts val="2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Easy: greedy gets 72% of the way.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888899"/>
                </a:solidFill>
                <a:latin typeface="Calibri"/>
              </a:defRPr>
            </a:pPr>
            <a:r>
              <a:t>Just reacting almost works.</a:t>
            </a:r>
          </a:p>
          <a:p>
            <a:pPr algn="l">
              <a:spcBef>
                <a:spcPts val="2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Hard: greedy only gets 28%.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4EC9B0"/>
                </a:solidFill>
                <a:latin typeface="Calibri"/>
              </a:defRPr>
            </a:pPr>
            <a:r>
              <a:t>You MUST think ahead.</a:t>
            </a:r>
          </a:p>
          <a:p>
            <a:pPr algn="l">
              <a:spcBef>
                <a:spcPts val="2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This proves the gym tests planning,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not just pattern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10058400" cy="914400"/>
          </a:xfrm>
          <a:prstGeom prst="roundRect">
            <a:avLst/>
          </a:prstGeom>
          <a:solidFill>
            <a:srgbClr val="1E3A2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440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9B0"/>
                </a:solidFill>
                <a:latin typeface="Calibri"/>
              </a:defRPr>
            </a:pPr>
            <a:r>
              <a:t>Approach 3 (future): Add LLM as 4th row. Same infrastructure, no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ANTICIPATED LAB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Why synthetic, not real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Real distributions are unknown. Estimated optima are noisy. Synthetic = exact ground truth. Same trade-off math gyms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Why no code interpreter?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Model could just code the Bellman solver and ace every instance. That tests coding, not financial reasoning. We test internalised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Is one problem type enough?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 — designed as first in a suite. Almgren-Chriss (execution) and Merton (allocation) are next. All share base infrastructure.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698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Is the market model realistic?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OU process captures mean-reversion (well-documented in finance). Simplified but not arbitrary. Gym tests reasoning, not market modelling.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MAPPING TO A GAMING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754880" cy="4572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Calibri"/>
              </a:defRPr>
            </a:pPr>
            <a:r>
              <a:t>Game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188720"/>
            <a:ext cx="5760720" cy="4572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Financial Gym Equivalent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47548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Game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737360"/>
            <a:ext cx="576072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828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Market signal Zₜ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475488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Player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240280"/>
            <a:ext cx="576072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331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Binary: activate (1) or sit out (0)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47548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Action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743200"/>
            <a:ext cx="576072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834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Switching cost 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475488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246120"/>
            <a:ext cx="576072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337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Profit from decision sequence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39"/>
            <a:ext cx="47548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404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Optimal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749039"/>
            <a:ext cx="576072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8404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Bellman-optimal policy (exact)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59"/>
            <a:ext cx="475488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339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Difficulty Setting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4251959"/>
            <a:ext cx="576072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434339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λ, α, T parameters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79"/>
            <a:ext cx="47548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Fog of War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4754879"/>
            <a:ext cx="576072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48463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Signals revealed one at a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257799"/>
            <a:ext cx="475488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492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9BD2"/>
                </a:solidFill>
                <a:latin typeface="Calibri"/>
              </a:defRPr>
            </a:pPr>
            <a:r>
              <a:t>Game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5257799"/>
            <a:ext cx="5760720" cy="502920"/>
          </a:xfrm>
          <a:prstGeom prst="round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53492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 process (known rules)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486400"/>
            <a:ext cx="10698480" cy="1097280"/>
          </a:xfrm>
          <a:prstGeom prst="roundRect">
            <a:avLst/>
          </a:prstGeom>
          <a:solidFill>
            <a:srgbClr val="1E3A2E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77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Closest analogy: Turn-based game where you deploy/recall a unit each turn. Deploying earns points if conditions are good, loses if not. Deploy/recall costs resources. Conditions drift randomly but tend to revert to neutral.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4EC9B0"/>
                </a:solidFill>
                <a:latin typeface="Calibri"/>
              </a:defRPr>
            </a:pPr>
            <a:r>
              <a:t>The optimal strategy isn't "deploy when good" — it's "deploy when good enough AND likely to stay good long enough."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SUITE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Designed as first gym in a family. Shared base classes, shared validation, shared TRL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What 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1556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Regime Switching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5915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Binary on/off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59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Planning with</a:t>
            </a:r>
            <a:br/>
            <a:r>
              <a:t>switching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59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Exact (DP)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591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Building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111556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D080"/>
                </a:solidFill>
                <a:latin typeface="Calibri"/>
              </a:defRPr>
            </a:pPr>
            <a:r>
              <a:t>Optimal Execution</a:t>
            </a:r>
            <a:br/>
            <a:r>
              <a:t>(Almgren-Chriss)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2783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Trade size</a:t>
            </a:r>
            <a:br/>
            <a:r>
              <a:t>per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278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Urgency vs</a:t>
            </a:r>
            <a:br/>
            <a:r>
              <a:t>market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278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Closed-form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278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D080"/>
                </a:solidFill>
                <a:latin typeface="Calibri"/>
              </a:defRPr>
            </a:pPr>
            <a:r>
              <a:t>Very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111556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965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D080"/>
                </a:solidFill>
                <a:latin typeface="Calibri"/>
              </a:defRPr>
            </a:pPr>
            <a:r>
              <a:t>Portfolio Allocation</a:t>
            </a:r>
            <a:br/>
            <a:r>
              <a:t>(Merton)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0965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% in risky</a:t>
            </a:r>
            <a:br/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0965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Risk vs</a:t>
            </a:r>
            <a:br/>
            <a:r>
              <a:t>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965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Closed-form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0965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D080"/>
                </a:solidFill>
                <a:latin typeface="Calibri"/>
              </a:defRPr>
            </a:pPr>
            <a:r>
              <a:t>Very 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1556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651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Calibri"/>
              </a:defRPr>
            </a:pPr>
            <a:r>
              <a:t>Hedging with Costs</a:t>
            </a:r>
            <a:br/>
            <a:r>
              <a:t>(Black-Scholes)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96519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Hedge ratio</a:t>
            </a:r>
            <a:br/>
            <a:r>
              <a:t>adjustment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9651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Precision vs</a:t>
            </a:r>
            <a:br/>
            <a:r>
              <a:t>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9651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Semi-analytical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965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Calibri"/>
              </a:defRPr>
            </a:pPr>
            <a:r>
              <a:t>Moderate-high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  <a:latin typeface="Calibri"/>
              </a:defRPr>
            </a:pPr>
            <a:r>
              <a:t>Each new problem type = 3 files (generator, verifier, prompts). Everything else is shared.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STATUS &amp; 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463040"/>
            <a:ext cx="228600" cy="228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Design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B0"/>
                </a:solidFill>
                <a:latin typeface="Calibri"/>
              </a:defRPr>
            </a:pPr>
            <a:r>
              <a:t>Complete and reviewed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57400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Next step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Core gym (generator + solver + verifier)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 build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246120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546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Prompt format (multi-turn conversation)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54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 build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840479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Validation suite (Goldilocks 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 build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434840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LLM baseline evaluation (Approach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029200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Suite expansion (execution, allocation)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